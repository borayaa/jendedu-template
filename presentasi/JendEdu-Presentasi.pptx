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0F7F6A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280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</a:rPr>
              <a:t>JendEdu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7F6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boraya/01.Personal/02.Boraya/05.Code/JendEdu-template/img/slides/1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F7F6A">
              <a:alpha val="45000"/>
            </a:srgbClr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457200"/>
            <a:ext cx="1737360" cy="65836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/home/boraya/01.Personal/02.Boraya/05.Code/JendEdu-template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371600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41732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JendEdu</a:t>
            </a:r>
            <a:endParaRPr lang="en-US" sz="66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Kursus Online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926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F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• SMP • SMA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457200" y="3520440"/>
            <a:ext cx="731520" cy="310896"/>
          </a:xfrm>
          <a:prstGeom prst="roundRect">
            <a:avLst>
              <a:gd name="adj" fmla="val 41176"/>
            </a:avLst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3520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280160" y="3520440"/>
            <a:ext cx="731520" cy="310896"/>
          </a:xfrm>
          <a:prstGeom prst="roundRect">
            <a:avLst>
              <a:gd name="adj" fmla="val 41176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280160" y="3520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103120" y="3520440"/>
            <a:ext cx="731520" cy="310896"/>
          </a:xfrm>
          <a:prstGeom prst="roundRect">
            <a:avLst>
              <a:gd name="adj" fmla="val 41176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103120" y="352044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4297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 [Nomor]  •  Kelas [Nama Kelas]  •  [Mata Kuliah]</a:t>
            </a:r>
            <a:endParaRPr lang="en-US" sz="1200" dirty="0"/>
          </a:p>
        </p:txBody>
      </p:sp>
      <p:sp>
        <p:nvSpPr>
          <p:cNvPr id="1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Anggota Tim &amp; Peran</a:t>
            </a:r>
            <a:endParaRPr lang="en-US" sz="3000" dirty="0"/>
          </a:p>
        </p:txBody>
      </p:sp>
      <p:sp>
        <p:nvSpPr>
          <p:cNvPr id="3" name="Kartu Coder 1"/>
          <p:cNvSpPr/>
          <p:nvPr/>
        </p:nvSpPr>
        <p:spPr>
          <a:xfrm>
            <a:off x="457200" y="109728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280160"/>
            <a:ext cx="822960" cy="8229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48132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Anggota 1]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@username-1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2788920"/>
            <a:ext cx="1371600" cy="292608"/>
          </a:xfrm>
          <a:prstGeom prst="roundRect">
            <a:avLst>
              <a:gd name="adj" fmla="val 4375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46304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46304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Kami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146304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46304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8640" y="41148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000" dirty="0"/>
          </a:p>
        </p:txBody>
      </p:sp>
      <p:sp>
        <p:nvSpPr>
          <p:cNvPr id="20" name="Kartu Coder 2"/>
          <p:cNvSpPr/>
          <p:nvPr/>
        </p:nvSpPr>
        <p:spPr>
          <a:xfrm>
            <a:off x="2560320" y="109728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108960" y="1280160"/>
            <a:ext cx="822960" cy="8229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81328"/>
            <a:ext cx="365760" cy="36576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56032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Anggota 2]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256032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@username-2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834640" y="2788920"/>
            <a:ext cx="1371600" cy="292608"/>
          </a:xfrm>
          <a:prstGeom prst="roundRect">
            <a:avLst>
              <a:gd name="adj" fmla="val 4375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83464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2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265176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265176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356616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356616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265176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265176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56616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56616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2651760" y="41148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2651760" y="41148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</a:t>
            </a:r>
            <a:endParaRPr lang="en-US" sz="1000" dirty="0"/>
          </a:p>
        </p:txBody>
      </p:sp>
      <p:sp>
        <p:nvSpPr>
          <p:cNvPr id="37" name="Kartu Reviewer"/>
          <p:cNvSpPr/>
          <p:nvPr/>
        </p:nvSpPr>
        <p:spPr>
          <a:xfrm>
            <a:off x="4663440" y="109728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212080" y="1280160"/>
            <a:ext cx="822960" cy="82296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481328"/>
            <a:ext cx="365760" cy="365760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466344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Anggota 3]</a:t>
            </a:r>
            <a:endParaRPr lang="en-US" sz="1300" dirty="0"/>
          </a:p>
        </p:txBody>
      </p:sp>
      <p:sp>
        <p:nvSpPr>
          <p:cNvPr id="41" name="Text 36"/>
          <p:cNvSpPr txBox="1"/>
          <p:nvPr/>
        </p:nvSpPr>
        <p:spPr>
          <a:xfrm>
            <a:off x="466344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@username-3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4937760" y="2788920"/>
            <a:ext cx="1371600" cy="292608"/>
          </a:xfrm>
          <a:prstGeom prst="roundRect">
            <a:avLst>
              <a:gd name="adj" fmla="val 4375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93776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475488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75488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Periksa PR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566928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566928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komentar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475488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475488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PR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6928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51" name="Text 46"/>
          <p:cNvSpPr txBox="1"/>
          <p:nvPr/>
        </p:nvSpPr>
        <p:spPr>
          <a:xfrm>
            <a:off x="566928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</a:t>
            </a:r>
            <a:endParaRPr lang="en-US" sz="1000" dirty="0"/>
          </a:p>
        </p:txBody>
      </p:sp>
      <p:sp>
        <p:nvSpPr>
          <p:cNvPr id="52" name="Kartu Dokumentator"/>
          <p:cNvSpPr/>
          <p:nvPr/>
        </p:nvSpPr>
        <p:spPr>
          <a:xfrm>
            <a:off x="6766560" y="1097280"/>
            <a:ext cx="1920240" cy="36118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7315200" y="1280160"/>
            <a:ext cx="822960" cy="8229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481328"/>
            <a:ext cx="365760" cy="365760"/>
          </a:xfrm>
          <a:prstGeom prst="rect">
            <a:avLst/>
          </a:prstGeom>
        </p:spPr>
      </p:pic>
      <p:sp>
        <p:nvSpPr>
          <p:cNvPr id="55" name="Text 49"/>
          <p:cNvSpPr txBox="1"/>
          <p:nvPr/>
        </p:nvSpPr>
        <p:spPr>
          <a:xfrm>
            <a:off x="6766560" y="2194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[Nama Anggota 4]</a:t>
            </a:r>
            <a:endParaRPr lang="en-US" sz="1300" dirty="0"/>
          </a:p>
        </p:txBody>
      </p:sp>
      <p:sp>
        <p:nvSpPr>
          <p:cNvPr id="56" name="Text 50"/>
          <p:cNvSpPr txBox="1"/>
          <p:nvPr/>
        </p:nvSpPr>
        <p:spPr>
          <a:xfrm>
            <a:off x="676656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@username-4</a:t>
            </a:r>
            <a:endParaRPr lang="en-US" sz="1100" dirty="0"/>
          </a:p>
        </p:txBody>
      </p:sp>
      <p:sp>
        <p:nvSpPr>
          <p:cNvPr id="57" name="Shape 51"/>
          <p:cNvSpPr/>
          <p:nvPr/>
        </p:nvSpPr>
        <p:spPr>
          <a:xfrm>
            <a:off x="7040880" y="2788920"/>
            <a:ext cx="1371600" cy="292608"/>
          </a:xfrm>
          <a:prstGeom prst="roundRect">
            <a:avLst>
              <a:gd name="adj" fmla="val 4375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7040880" y="27889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Dokumentator</a:t>
            </a:r>
            <a:endParaRPr lang="en-US" sz="1200" dirty="0"/>
          </a:p>
        </p:txBody>
      </p:sp>
      <p:sp>
        <p:nvSpPr>
          <p:cNvPr id="59" name="Shape 53"/>
          <p:cNvSpPr/>
          <p:nvPr/>
        </p:nvSpPr>
        <p:spPr>
          <a:xfrm>
            <a:off x="685800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685800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7772400" y="32004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7772400" y="32004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&amp; naskah</a:t>
            </a:r>
            <a:endParaRPr lang="en-US" sz="1000" dirty="0"/>
          </a:p>
        </p:txBody>
      </p:sp>
      <p:sp>
        <p:nvSpPr>
          <p:cNvPr id="63" name="Shape 57"/>
          <p:cNvSpPr/>
          <p:nvPr/>
        </p:nvSpPr>
        <p:spPr>
          <a:xfrm>
            <a:off x="685800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685800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bisnis</a:t>
            </a:r>
            <a:endParaRPr lang="en-US" sz="1000" dirty="0"/>
          </a:p>
        </p:txBody>
      </p:sp>
      <p:sp>
        <p:nvSpPr>
          <p:cNvPr id="65" name="Shape 59"/>
          <p:cNvSpPr/>
          <p:nvPr/>
        </p:nvSpPr>
        <p:spPr>
          <a:xfrm>
            <a:off x="7772400" y="36576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7772400" y="36576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000" dirty="0"/>
          </a:p>
        </p:txBody>
      </p:sp>
      <p:sp>
        <p:nvSpPr>
          <p:cNvPr id="67" name="Shape 61"/>
          <p:cNvSpPr/>
          <p:nvPr/>
        </p:nvSpPr>
        <p:spPr>
          <a:xfrm>
            <a:off x="6858000" y="41148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858000" y="41148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kerja</a:t>
            </a:r>
            <a:endParaRPr lang="en-US" sz="1000" dirty="0"/>
          </a:p>
        </p:txBody>
      </p:sp>
      <p:sp>
        <p:nvSpPr>
          <p:cNvPr id="69" name="Shape 63"/>
          <p:cNvSpPr/>
          <p:nvPr/>
        </p:nvSpPr>
        <p:spPr>
          <a:xfrm>
            <a:off x="7772400" y="4114800"/>
            <a:ext cx="841248" cy="365760"/>
          </a:xfrm>
          <a:prstGeom prst="roundRect">
            <a:avLst>
              <a:gd name="adj" fmla="val 25000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70" name="Text 64"/>
          <p:cNvSpPr txBox="1"/>
          <p:nvPr/>
        </p:nvSpPr>
        <p:spPr>
          <a:xfrm>
            <a:off x="7772400" y="4114800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review-log</a:t>
            </a:r>
            <a:endParaRPr lang="en-US" sz="1000" dirty="0"/>
          </a:p>
        </p:txBody>
      </p:sp>
      <p:sp>
        <p:nvSpPr>
          <p:cNvPr id="71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Bisnis JendEdu</a:t>
            </a:r>
            <a:endParaRPr lang="en-US" sz="3000" dirty="0"/>
          </a:p>
        </p:txBody>
      </p:sp>
      <p:sp>
        <p:nvSpPr>
          <p:cNvPr id="3" name="Visi"/>
          <p:cNvSpPr/>
          <p:nvPr/>
        </p:nvSpPr>
        <p:spPr>
          <a:xfrm>
            <a:off x="457200" y="1024128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188720"/>
            <a:ext cx="548640" cy="54864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0698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3167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 berkualitas dan terjangkau untuk semua siswa Indonesia</a:t>
            </a:r>
            <a:endParaRPr lang="en-US" sz="1300" dirty="0"/>
          </a:p>
        </p:txBody>
      </p:sp>
      <p:sp>
        <p:nvSpPr>
          <p:cNvPr id="8" name="Misi"/>
          <p:cNvSpPr/>
          <p:nvPr/>
        </p:nvSpPr>
        <p:spPr>
          <a:xfrm>
            <a:off x="4663440" y="1024128"/>
            <a:ext cx="402336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00600" y="1188720"/>
            <a:ext cx="548640" cy="54864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258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86400" y="10698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486400" y="13167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 online interaktif dengan tutor berpengalaman</a:t>
            </a:r>
            <a:endParaRPr lang="en-US" sz="1300" dirty="0"/>
          </a:p>
        </p:txBody>
      </p:sp>
      <p:sp>
        <p:nvSpPr>
          <p:cNvPr id="13" name="Nilai Tutor berpengalaman"/>
          <p:cNvSpPr/>
          <p:nvPr/>
        </p:nvSpPr>
        <p:spPr>
          <a:xfrm>
            <a:off x="457200" y="202996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66928" y="2194560"/>
            <a:ext cx="530352" cy="530352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" y="2327148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029968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 berpengalaman</a:t>
            </a:r>
            <a:endParaRPr lang="en-US" sz="1200" dirty="0"/>
          </a:p>
        </p:txBody>
      </p:sp>
      <p:sp>
        <p:nvSpPr>
          <p:cNvPr id="17" name="Nilai Video interaktif"/>
          <p:cNvSpPr/>
          <p:nvPr/>
        </p:nvSpPr>
        <p:spPr>
          <a:xfrm>
            <a:off x="2560320" y="202996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670048" y="2194560"/>
            <a:ext cx="530352" cy="530352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2636" y="2327148"/>
            <a:ext cx="265176" cy="26517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291840" y="2029968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interaktif</a:t>
            </a:r>
            <a:endParaRPr lang="en-US" sz="1200" dirty="0"/>
          </a:p>
        </p:txBody>
      </p:sp>
      <p:sp>
        <p:nvSpPr>
          <p:cNvPr id="21" name="Nilai Kurikulum Merdeka"/>
          <p:cNvSpPr/>
          <p:nvPr/>
        </p:nvSpPr>
        <p:spPr>
          <a:xfrm>
            <a:off x="4663440" y="202996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4773168" y="2194560"/>
            <a:ext cx="530352" cy="530352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5756" y="2327148"/>
            <a:ext cx="265176" cy="26517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394960" y="2029968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Kurikulum Merdeka</a:t>
            </a:r>
            <a:endParaRPr lang="en-US" sz="1200" dirty="0"/>
          </a:p>
        </p:txBody>
      </p:sp>
      <p:sp>
        <p:nvSpPr>
          <p:cNvPr id="25" name="Nilai Belajar kapan saja"/>
          <p:cNvSpPr/>
          <p:nvPr/>
        </p:nvSpPr>
        <p:spPr>
          <a:xfrm>
            <a:off x="6766560" y="2029968"/>
            <a:ext cx="1920240" cy="868680"/>
          </a:xfrm>
          <a:prstGeom prst="roundRect">
            <a:avLst>
              <a:gd name="adj" fmla="val 12632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6876288" y="2194560"/>
            <a:ext cx="530352" cy="530352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8876" y="2327148"/>
            <a:ext cx="265176" cy="26517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498080" y="2029968"/>
            <a:ext cx="1143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kapan saja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29900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bisnis: paket langganan bulanan</a:t>
            </a:r>
            <a:endParaRPr lang="en-US" sz="1300" dirty="0"/>
          </a:p>
        </p:txBody>
      </p:sp>
      <p:sp>
        <p:nvSpPr>
          <p:cNvPr id="30" name="Paket SD"/>
          <p:cNvSpPr/>
          <p:nvPr/>
        </p:nvSpPr>
        <p:spPr>
          <a:xfrm>
            <a:off x="457200" y="32918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45720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SD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Rp99.000</a:t>
            </a:r>
            <a:endParaRPr lang="en-US" sz="2600" dirty="0"/>
          </a:p>
        </p:txBody>
      </p:sp>
      <p:sp>
        <p:nvSpPr>
          <p:cNvPr id="33" name="Text 25"/>
          <p:cNvSpPr txBox="1"/>
          <p:nvPr/>
        </p:nvSpPr>
        <p:spPr>
          <a:xfrm>
            <a:off x="45720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bulan</a:t>
            </a:r>
            <a:endParaRPr lang="en-US" sz="1000" dirty="0"/>
          </a:p>
        </p:txBody>
      </p:sp>
      <p:sp>
        <p:nvSpPr>
          <p:cNvPr id="34" name="Paket SMP"/>
          <p:cNvSpPr/>
          <p:nvPr/>
        </p:nvSpPr>
        <p:spPr>
          <a:xfrm>
            <a:off x="2560320" y="32918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256032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SMP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256032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Rp129.000</a:t>
            </a:r>
            <a:endParaRPr lang="en-US" sz="2600" dirty="0"/>
          </a:p>
        </p:txBody>
      </p:sp>
      <p:sp>
        <p:nvSpPr>
          <p:cNvPr id="37" name="Text 29"/>
          <p:cNvSpPr txBox="1"/>
          <p:nvPr/>
        </p:nvSpPr>
        <p:spPr>
          <a:xfrm>
            <a:off x="256032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bulan</a:t>
            </a:r>
            <a:endParaRPr lang="en-US" sz="1000" dirty="0"/>
          </a:p>
        </p:txBody>
      </p:sp>
      <p:sp>
        <p:nvSpPr>
          <p:cNvPr id="38" name="Paket SMA"/>
          <p:cNvSpPr/>
          <p:nvPr/>
        </p:nvSpPr>
        <p:spPr>
          <a:xfrm>
            <a:off x="4663440" y="32918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Text 31"/>
          <p:cNvSpPr txBox="1"/>
          <p:nvPr/>
        </p:nvSpPr>
        <p:spPr>
          <a:xfrm>
            <a:off x="466344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SMA</a:t>
            </a:r>
            <a:endParaRPr lang="en-US" sz="1200" dirty="0"/>
          </a:p>
        </p:txBody>
      </p:sp>
      <p:sp>
        <p:nvSpPr>
          <p:cNvPr id="40" name="Text 32"/>
          <p:cNvSpPr txBox="1"/>
          <p:nvPr/>
        </p:nvSpPr>
        <p:spPr>
          <a:xfrm>
            <a:off x="466344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Rp159.000</a:t>
            </a:r>
            <a:endParaRPr lang="en-US" sz="2600" dirty="0"/>
          </a:p>
        </p:txBody>
      </p:sp>
      <p:sp>
        <p:nvSpPr>
          <p:cNvPr id="41" name="Text 33"/>
          <p:cNvSpPr txBox="1"/>
          <p:nvPr/>
        </p:nvSpPr>
        <p:spPr>
          <a:xfrm>
            <a:off x="466344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bulan</a:t>
            </a:r>
            <a:endParaRPr lang="en-US" sz="1000" dirty="0"/>
          </a:p>
        </p:txBody>
      </p:sp>
      <p:sp>
        <p:nvSpPr>
          <p:cNvPr id="42" name="Paket UTBK Intensif"/>
          <p:cNvSpPr/>
          <p:nvPr/>
        </p:nvSpPr>
        <p:spPr>
          <a:xfrm>
            <a:off x="6766560" y="3291840"/>
            <a:ext cx="1920240" cy="1005840"/>
          </a:xfrm>
          <a:prstGeom prst="roundRect">
            <a:avLst>
              <a:gd name="adj" fmla="val 10909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Text 35"/>
          <p:cNvSpPr txBox="1"/>
          <p:nvPr/>
        </p:nvSpPr>
        <p:spPr>
          <a:xfrm>
            <a:off x="6766560" y="33649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UTBK Intensif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6766560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Rp249.000</a:t>
            </a:r>
            <a:endParaRPr lang="en-US" sz="2600" dirty="0"/>
          </a:p>
        </p:txBody>
      </p:sp>
      <p:sp>
        <p:nvSpPr>
          <p:cNvPr id="45" name="Text 37"/>
          <p:cNvSpPr txBox="1"/>
          <p:nvPr/>
        </p:nvSpPr>
        <p:spPr>
          <a:xfrm>
            <a:off x="6766560" y="40233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bulan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457200" y="4434840"/>
            <a:ext cx="4114800" cy="274320"/>
          </a:xfrm>
          <a:prstGeom prst="roundRect">
            <a:avLst>
              <a:gd name="adj" fmla="val 46667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47" name="Text 39"/>
          <p:cNvSpPr txBox="1"/>
          <p:nvPr/>
        </p:nvSpPr>
        <p:spPr>
          <a:xfrm>
            <a:off x="457200" y="4434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siswa SD–SMA &amp; orang tua di Indonesia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4663440" y="4434840"/>
            <a:ext cx="4023360" cy="274320"/>
          </a:xfrm>
          <a:prstGeom prst="roundRect">
            <a:avLst>
              <a:gd name="adj" fmla="val 46667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466344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Kantor pusat (fiktif): Tebet, Jakarta Selatan</a:t>
            </a:r>
            <a:endParaRPr lang="en-US" sz="1100" dirty="0"/>
          </a:p>
        </p:txBody>
      </p:sp>
      <p:sp>
        <p:nvSpPr>
          <p:cNvPr id="50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Pengguna</a:t>
            </a:r>
            <a:endParaRPr lang="en-US" sz="3000" dirty="0"/>
          </a:p>
        </p:txBody>
      </p:sp>
      <p:sp>
        <p:nvSpPr>
          <p:cNvPr id="3" name="Persona Orang Tua"/>
          <p:cNvSpPr/>
          <p:nvPr/>
        </p:nvSpPr>
        <p:spPr>
          <a:xfrm>
            <a:off x="457200" y="105156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7315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822960" cy="8229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5316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9164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 Tua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169164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Pengambil keputusan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85800" y="233172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45059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34440" y="2331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les yang terpercaya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85800" y="292608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4495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34440" y="2926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harga &amp; testimoni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85800" y="352044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63931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34440" y="35204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Sering membuka lewat HP</a:t>
            </a:r>
            <a:endParaRPr lang="en-US" sz="1300" dirty="0"/>
          </a:p>
        </p:txBody>
      </p:sp>
      <p:sp>
        <p:nvSpPr>
          <p:cNvPr id="18" name="Persona Siswa"/>
          <p:cNvSpPr/>
          <p:nvPr/>
        </p:nvSpPr>
        <p:spPr>
          <a:xfrm>
            <a:off x="4663440" y="1051560"/>
            <a:ext cx="402336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663440" y="1051560"/>
            <a:ext cx="4023360" cy="73152"/>
          </a:xfrm>
          <a:prstGeom prst="rect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92040" y="1325880"/>
            <a:ext cx="822960" cy="8229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7780" y="153162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97880" y="1325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Siswa</a:t>
            </a:r>
            <a:endParaRPr lang="en-US" sz="2400" dirty="0"/>
          </a:p>
        </p:txBody>
      </p:sp>
      <p:sp>
        <p:nvSpPr>
          <p:cNvPr id="23" name="Text 16"/>
          <p:cNvSpPr txBox="1"/>
          <p:nvPr/>
        </p:nvSpPr>
        <p:spPr>
          <a:xfrm>
            <a:off x="589788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belajar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4892040" y="233172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2450592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5440680" y="2331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sesuai jenjang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892040" y="292608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04495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5440680" y="292608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&amp; tryout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892040" y="3520440"/>
            <a:ext cx="3566160" cy="475488"/>
          </a:xfrm>
          <a:prstGeom prst="roundRect">
            <a:avLst>
              <a:gd name="adj" fmla="val 19231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0" y="3639312"/>
            <a:ext cx="237744" cy="237744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440680" y="352044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fleksibel, kapan saja</a:t>
            </a:r>
            <a:endParaRPr lang="en-US" sz="1300" dirty="0"/>
          </a:p>
        </p:txBody>
      </p:sp>
      <p:sp>
        <p:nvSpPr>
          <p:cNvPr id="33" name="Shape 23"/>
          <p:cNvSpPr/>
          <p:nvPr/>
        </p:nvSpPr>
        <p:spPr>
          <a:xfrm>
            <a:off x="457200" y="4370832"/>
            <a:ext cx="8229600" cy="329184"/>
          </a:xfrm>
          <a:prstGeom prst="roundRect">
            <a:avLst>
              <a:gd name="adj" fmla="val 38889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34" name="Text 24"/>
          <p:cNvSpPr txBox="1"/>
          <p:nvPr/>
        </p:nvSpPr>
        <p:spPr>
          <a:xfrm>
            <a:off x="457200" y="43708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situs untuk dua pengguna: yang membayar dan yang belajar</a:t>
            </a:r>
            <a:endParaRPr lang="en-US" sz="1300" dirty="0"/>
          </a:p>
        </p:txBody>
      </p:sp>
      <p:sp>
        <p:nvSpPr>
          <p:cNvPr id="35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Masalah"/>
          <p:cNvSpPr/>
          <p:nvPr/>
        </p:nvSpPr>
        <p:spPr>
          <a:xfrm>
            <a:off x="457200" y="10972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FDEBE8"/>
          </a:solidFill>
          <a:ln w="12700">
            <a:solidFill>
              <a:srgbClr val="FDEB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25880"/>
            <a:ext cx="731520" cy="73152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Masalah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sulit diakses &amp; mahal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114800" y="1709928"/>
            <a:ext cx="914400" cy="0"/>
          </a:xfrm>
          <a:prstGeom prst="line">
            <a:avLst/>
          </a:prstGeom>
          <a:noFill/>
          <a:ln w="31750">
            <a:solidFill>
              <a:srgbClr val="14A085"/>
            </a:solidFill>
            <a:prstDash val="solid"/>
            <a:tailEnd type="triangle"/>
          </a:ln>
        </p:spPr>
      </p:sp>
      <p:sp>
        <p:nvSpPr>
          <p:cNvPr id="9" name="Solusi"/>
          <p:cNvSpPr/>
          <p:nvPr/>
        </p:nvSpPr>
        <p:spPr>
          <a:xfrm>
            <a:off x="5120640" y="1097280"/>
            <a:ext cx="3566160" cy="1234440"/>
          </a:xfrm>
          <a:prstGeom prst="roundRect">
            <a:avLst>
              <a:gd name="adj" fmla="val 8889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03520" y="1325880"/>
            <a:ext cx="731520" cy="73152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508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72200" y="1234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172200" y="1508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 online SD, SMP, SMA</a:t>
            </a:r>
            <a:endParaRPr lang="en-US" sz="1600" dirty="0"/>
          </a:p>
        </p:txBody>
      </p:sp>
      <p:sp>
        <p:nvSpPr>
          <p:cNvPr id="14" name="Jenjang SD"/>
          <p:cNvSpPr/>
          <p:nvPr/>
        </p:nvSpPr>
        <p:spPr>
          <a:xfrm>
            <a:off x="457200" y="2606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2743200"/>
            <a:ext cx="594360" cy="5943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2891790"/>
            <a:ext cx="297180" cy="2971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1B3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</a:t>
            </a:r>
            <a:endParaRPr lang="en-US" sz="3000" dirty="0"/>
          </a:p>
        </p:txBody>
      </p:sp>
      <p:sp>
        <p:nvSpPr>
          <p:cNvPr id="18" name="Jenjang SMP"/>
          <p:cNvSpPr/>
          <p:nvPr/>
        </p:nvSpPr>
        <p:spPr>
          <a:xfrm>
            <a:off x="3291840" y="2606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474720" y="2743200"/>
            <a:ext cx="594360" cy="5943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10" y="289179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25196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SMP</a:t>
            </a:r>
            <a:endParaRPr lang="en-US" sz="3000" dirty="0"/>
          </a:p>
        </p:txBody>
      </p:sp>
      <p:sp>
        <p:nvSpPr>
          <p:cNvPr id="22" name="Jenjang SMA"/>
          <p:cNvSpPr/>
          <p:nvPr/>
        </p:nvSpPr>
        <p:spPr>
          <a:xfrm>
            <a:off x="6126480" y="2606040"/>
            <a:ext cx="25603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309360" y="2743200"/>
            <a:ext cx="594360" cy="5943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2891790"/>
            <a:ext cx="297180" cy="29718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086600" y="26974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</a:t>
            </a:r>
            <a:endParaRPr lang="en-US" sz="3000" dirty="0"/>
          </a:p>
        </p:txBody>
      </p:sp>
      <p:sp>
        <p:nvSpPr>
          <p:cNvPr id="26" name="Angka Halaman utama"/>
          <p:cNvSpPr/>
          <p:nvPr/>
        </p:nvSpPr>
        <p:spPr>
          <a:xfrm>
            <a:off x="457200" y="37033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59436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3749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utama</a:t>
            </a:r>
            <a:endParaRPr lang="en-US" sz="1400" dirty="0"/>
          </a:p>
        </p:txBody>
      </p:sp>
      <p:sp>
        <p:nvSpPr>
          <p:cNvPr id="29" name="Angka Berita &amp; artikel"/>
          <p:cNvSpPr/>
          <p:nvPr/>
        </p:nvSpPr>
        <p:spPr>
          <a:xfrm>
            <a:off x="3291840" y="37033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342900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5400" dirty="0"/>
          </a:p>
        </p:txBody>
      </p:sp>
      <p:sp>
        <p:nvSpPr>
          <p:cNvPr id="31" name="Text 24"/>
          <p:cNvSpPr txBox="1"/>
          <p:nvPr/>
        </p:nvSpPr>
        <p:spPr>
          <a:xfrm>
            <a:off x="4389120" y="3749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 &amp; artikel</a:t>
            </a:r>
            <a:endParaRPr lang="en-US" sz="1400" dirty="0"/>
          </a:p>
        </p:txBody>
      </p:sp>
      <p:sp>
        <p:nvSpPr>
          <p:cNvPr id="32" name="Angka Paket harga"/>
          <p:cNvSpPr/>
          <p:nvPr/>
        </p:nvSpPr>
        <p:spPr>
          <a:xfrm>
            <a:off x="6126480" y="370332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3" name="Text 26"/>
          <p:cNvSpPr txBox="1"/>
          <p:nvPr/>
        </p:nvSpPr>
        <p:spPr>
          <a:xfrm>
            <a:off x="6263640" y="3749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86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34" name="Text 27"/>
          <p:cNvSpPr txBox="1"/>
          <p:nvPr/>
        </p:nvSpPr>
        <p:spPr>
          <a:xfrm>
            <a:off x="7223760" y="37490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Paket harga</a:t>
            </a:r>
            <a:endParaRPr lang="en-US" sz="1400" dirty="0"/>
          </a:p>
        </p:txBody>
      </p:sp>
      <p:sp>
        <p:nvSpPr>
          <p:cNvPr id="35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Website Dibuat Seperti Ini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6B6B6B"/>
          </a:solidFill>
          <a:ln w="12700">
            <a:solidFill>
              <a:srgbClr val="6B6B6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KEBUTUHAN BISNIS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0" y="1005840"/>
            <a:ext cx="3657600" cy="256032"/>
          </a:xfrm>
          <a:prstGeom prst="roundRect">
            <a:avLst>
              <a:gd name="adj" fmla="val 50000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0" y="1005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WEBSITE</a:t>
            </a:r>
            <a:endParaRPr lang="en-US" sz="1100" dirty="0"/>
          </a:p>
        </p:txBody>
      </p:sp>
      <p:sp>
        <p:nvSpPr>
          <p:cNvPr id="7" name="Kebutuhan 3 jenjang belajar"/>
          <p:cNvSpPr/>
          <p:nvPr/>
        </p:nvSpPr>
        <p:spPr>
          <a:xfrm>
            <a:off x="457200" y="1353312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30352" y="1408176"/>
            <a:ext cx="365760" cy="36576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9961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13533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jenjang belajar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187952" y="1591056"/>
            <a:ext cx="768096" cy="0"/>
          </a:xfrm>
          <a:prstGeom prst="line">
            <a:avLst/>
          </a:prstGeom>
          <a:noFill/>
          <a:ln w="31750">
            <a:solidFill>
              <a:srgbClr val="61B331"/>
            </a:solidFill>
            <a:prstDash val="solid"/>
            <a:tailEnd type="triangle"/>
          </a:ln>
        </p:spPr>
      </p:sp>
      <p:sp>
        <p:nvSpPr>
          <p:cNvPr id="12" name="Fitur Slider &amp; kursus SD / SMP / SMA"/>
          <p:cNvSpPr/>
          <p:nvPr/>
        </p:nvSpPr>
        <p:spPr>
          <a:xfrm>
            <a:off x="5029200" y="1353312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66360" y="13533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&amp; kursus SD / SMP / SMA</a:t>
            </a:r>
            <a:endParaRPr lang="en-US" sz="1200" dirty="0"/>
          </a:p>
        </p:txBody>
      </p:sp>
      <p:sp>
        <p:nvSpPr>
          <p:cNvPr id="14" name="Kebutuhan Model berlangganan"/>
          <p:cNvSpPr/>
          <p:nvPr/>
        </p:nvSpPr>
        <p:spPr>
          <a:xfrm>
            <a:off x="457200" y="1920240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30352" y="1975104"/>
            <a:ext cx="365760" cy="36576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066544"/>
            <a:ext cx="182880" cy="18288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005840" y="19202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berlangganan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187952" y="2157984"/>
            <a:ext cx="768096" cy="0"/>
          </a:xfrm>
          <a:prstGeom prst="line">
            <a:avLst/>
          </a:prstGeom>
          <a:noFill/>
          <a:ln w="31750">
            <a:solidFill>
              <a:srgbClr val="14A085"/>
            </a:solidFill>
            <a:prstDash val="solid"/>
            <a:tailEnd type="triangle"/>
          </a:ln>
        </p:spPr>
      </p:sp>
      <p:sp>
        <p:nvSpPr>
          <p:cNvPr id="19" name="Fitur Harga 4 paket + tombol Daftar"/>
          <p:cNvSpPr/>
          <p:nvPr/>
        </p:nvSpPr>
        <p:spPr>
          <a:xfrm>
            <a:off x="5029200" y="1920240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166360" y="19202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 4 paket + tombol Daftar</a:t>
            </a:r>
            <a:endParaRPr lang="en-US" sz="1200" dirty="0"/>
          </a:p>
        </p:txBody>
      </p:sp>
      <p:sp>
        <p:nvSpPr>
          <p:cNvPr id="21" name="Kebutuhan Butuh kepercayaan orang tua"/>
          <p:cNvSpPr/>
          <p:nvPr/>
        </p:nvSpPr>
        <p:spPr>
          <a:xfrm>
            <a:off x="457200" y="2487168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0352" y="2542032"/>
            <a:ext cx="365760" cy="36576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33472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05840" y="24871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kepercayaan orang tua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187952" y="2724912"/>
            <a:ext cx="768096" cy="0"/>
          </a:xfrm>
          <a:prstGeom prst="line">
            <a:avLst/>
          </a:prstGeom>
          <a:noFill/>
          <a:ln w="31750">
            <a:solidFill>
              <a:srgbClr val="2FA4E7"/>
            </a:solidFill>
            <a:prstDash val="solid"/>
            <a:tailEnd type="triangle"/>
          </a:ln>
        </p:spPr>
      </p:sp>
      <p:sp>
        <p:nvSpPr>
          <p:cNvPr id="26" name="Fitur Testimoni, tim pengajar, galeri"/>
          <p:cNvSpPr/>
          <p:nvPr/>
        </p:nvSpPr>
        <p:spPr>
          <a:xfrm>
            <a:off x="5029200" y="2487168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5166360" y="248716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Testimoni, tim pengajar, galeri</a:t>
            </a:r>
            <a:endParaRPr lang="en-US" sz="1200" dirty="0"/>
          </a:p>
        </p:txBody>
      </p:sp>
      <p:sp>
        <p:nvSpPr>
          <p:cNvPr id="28" name="Kebutuhan Edukasi &amp; SEO"/>
          <p:cNvSpPr/>
          <p:nvPr/>
        </p:nvSpPr>
        <p:spPr>
          <a:xfrm>
            <a:off x="457200" y="3054096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530352" y="3108960"/>
            <a:ext cx="365760" cy="36576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200400"/>
            <a:ext cx="182880" cy="182880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05840" y="305409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Edukasi &amp; SEO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4187952" y="3291840"/>
            <a:ext cx="768096" cy="0"/>
          </a:xfrm>
          <a:prstGeom prst="line">
            <a:avLst/>
          </a:prstGeom>
          <a:noFill/>
          <a:ln w="31750">
            <a:solidFill>
              <a:srgbClr val="D867B2"/>
            </a:solidFill>
            <a:prstDash val="solid"/>
            <a:tailEnd type="triangle"/>
          </a:ln>
        </p:spPr>
      </p:sp>
      <p:sp>
        <p:nvSpPr>
          <p:cNvPr id="33" name="Fitur 3 berita + 3 artikel"/>
          <p:cNvSpPr/>
          <p:nvPr/>
        </p:nvSpPr>
        <p:spPr>
          <a:xfrm>
            <a:off x="5029200" y="3054096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5166360" y="305409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berita + 3 artikel</a:t>
            </a:r>
            <a:endParaRPr lang="en-US" sz="1200" dirty="0"/>
          </a:p>
        </p:txBody>
      </p:sp>
      <p:sp>
        <p:nvSpPr>
          <p:cNvPr id="35" name="Kebutuhan Konversi pendaftaran"/>
          <p:cNvSpPr/>
          <p:nvPr/>
        </p:nvSpPr>
        <p:spPr>
          <a:xfrm>
            <a:off x="457200" y="3621024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530352" y="3675888"/>
            <a:ext cx="365760" cy="36576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67328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005840" y="362102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pendaftaran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4187952" y="3858768"/>
            <a:ext cx="768096" cy="0"/>
          </a:xfrm>
          <a:prstGeom prst="line">
            <a:avLst/>
          </a:prstGeom>
          <a:noFill/>
          <a:ln w="31750">
            <a:solidFill>
              <a:srgbClr val="E9573F"/>
            </a:solidFill>
            <a:prstDash val="solid"/>
            <a:tailEnd type="triangle"/>
          </a:ln>
        </p:spPr>
      </p:sp>
      <p:sp>
        <p:nvSpPr>
          <p:cNvPr id="40" name="Fitur Kontak: formulir, WhatsApp, peta"/>
          <p:cNvSpPr/>
          <p:nvPr/>
        </p:nvSpPr>
        <p:spPr>
          <a:xfrm>
            <a:off x="5029200" y="3621024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5166360" y="36210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Kontak: formulir, WhatsApp, peta</a:t>
            </a:r>
            <a:endParaRPr lang="en-US" sz="1200" dirty="0"/>
          </a:p>
        </p:txBody>
      </p:sp>
      <p:sp>
        <p:nvSpPr>
          <p:cNvPr id="42" name="Kebutuhan Pengguna mobile"/>
          <p:cNvSpPr/>
          <p:nvPr/>
        </p:nvSpPr>
        <p:spPr>
          <a:xfrm>
            <a:off x="457200" y="4187952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530352" y="4242816"/>
            <a:ext cx="365760" cy="365760"/>
          </a:xfrm>
          <a:prstGeom prst="ellipse">
            <a:avLst/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4334256"/>
            <a:ext cx="182880" cy="18288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005840" y="418795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Pengguna mobile</a:t>
            </a:r>
            <a:endParaRPr lang="en-US" sz="1200" dirty="0"/>
          </a:p>
        </p:txBody>
      </p:sp>
      <p:sp>
        <p:nvSpPr>
          <p:cNvPr id="46" name="Shape 38"/>
          <p:cNvSpPr/>
          <p:nvPr/>
        </p:nvSpPr>
        <p:spPr>
          <a:xfrm>
            <a:off x="4187952" y="4425696"/>
            <a:ext cx="768096" cy="0"/>
          </a:xfrm>
          <a:prstGeom prst="line">
            <a:avLst/>
          </a:prstGeom>
          <a:noFill/>
          <a:ln w="31750">
            <a:solidFill>
              <a:srgbClr val="0F7F6A"/>
            </a:solidFill>
            <a:prstDash val="solid"/>
            <a:tailEnd type="triangle"/>
          </a:ln>
        </p:spPr>
      </p:sp>
      <p:sp>
        <p:nvSpPr>
          <p:cNvPr id="47" name="Fitur Desain responsif Bootstrap"/>
          <p:cNvSpPr/>
          <p:nvPr/>
        </p:nvSpPr>
        <p:spPr>
          <a:xfrm>
            <a:off x="5029200" y="4187952"/>
            <a:ext cx="3657600" cy="475488"/>
          </a:xfrm>
          <a:prstGeom prst="roundRect">
            <a:avLst>
              <a:gd name="adj" fmla="val 23077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48" name="Text 40"/>
          <p:cNvSpPr txBox="1"/>
          <p:nvPr/>
        </p:nvSpPr>
        <p:spPr>
          <a:xfrm>
            <a:off x="5166360" y="418795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Desain responsif Bootstrap</a:t>
            </a:r>
            <a:endParaRPr lang="en-US" sz="1200" dirty="0"/>
          </a:p>
        </p:txBody>
      </p:sp>
      <p:sp>
        <p:nvSpPr>
          <p:cNvPr id="49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&amp; Halaman</a:t>
            </a:r>
            <a:endParaRPr lang="en-US" sz="3000" dirty="0"/>
          </a:p>
        </p:txBody>
      </p:sp>
      <p:sp>
        <p:nvSpPr>
          <p:cNvPr id="3" name="Halaman Beranda"/>
          <p:cNvSpPr/>
          <p:nvPr/>
        </p:nvSpPr>
        <p:spPr>
          <a:xfrm>
            <a:off x="457200" y="10972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243584"/>
            <a:ext cx="512064" cy="51206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371600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Beranda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4996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&amp; kursus unggulan</a:t>
            </a:r>
            <a:endParaRPr lang="en-US" sz="1000" dirty="0"/>
          </a:p>
        </p:txBody>
      </p:sp>
      <p:sp>
        <p:nvSpPr>
          <p:cNvPr id="8" name="Halaman Tentang Kami"/>
          <p:cNvSpPr/>
          <p:nvPr/>
        </p:nvSpPr>
        <p:spPr>
          <a:xfrm>
            <a:off x="2971800" y="10972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08960" y="1243584"/>
            <a:ext cx="512064" cy="512064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137160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749040" y="11887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Tentang Kami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749040" y="14996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&amp; tim</a:t>
            </a:r>
            <a:endParaRPr lang="en-US" sz="1000" dirty="0"/>
          </a:p>
        </p:txBody>
      </p:sp>
      <p:sp>
        <p:nvSpPr>
          <p:cNvPr id="13" name="Halaman Kursus"/>
          <p:cNvSpPr/>
          <p:nvPr/>
        </p:nvSpPr>
        <p:spPr>
          <a:xfrm>
            <a:off x="457200" y="20116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94360" y="2157984"/>
            <a:ext cx="512064" cy="512064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286000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Kursus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24140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mata pelajaran</a:t>
            </a:r>
            <a:endParaRPr lang="en-US" sz="1000" dirty="0"/>
          </a:p>
        </p:txBody>
      </p:sp>
      <p:sp>
        <p:nvSpPr>
          <p:cNvPr id="18" name="Halaman Galeri"/>
          <p:cNvSpPr/>
          <p:nvPr/>
        </p:nvSpPr>
        <p:spPr>
          <a:xfrm>
            <a:off x="2971800" y="20116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3108960" y="2157984"/>
            <a:ext cx="512064" cy="512064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6976" y="2286000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749040" y="21031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3749040" y="24140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SD / SMP / SMA</a:t>
            </a:r>
            <a:endParaRPr lang="en-US" sz="1000" dirty="0"/>
          </a:p>
        </p:txBody>
      </p:sp>
      <p:sp>
        <p:nvSpPr>
          <p:cNvPr id="23" name="Halaman Harga"/>
          <p:cNvSpPr/>
          <p:nvPr/>
        </p:nvSpPr>
        <p:spPr>
          <a:xfrm>
            <a:off x="457200" y="29260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94360" y="3072384"/>
            <a:ext cx="512064" cy="512064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20040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Harga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234440" y="33284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paket bulanan</a:t>
            </a:r>
            <a:endParaRPr lang="en-US" sz="1000" dirty="0"/>
          </a:p>
        </p:txBody>
      </p:sp>
      <p:sp>
        <p:nvSpPr>
          <p:cNvPr id="28" name="Halaman Kontak"/>
          <p:cNvSpPr/>
          <p:nvPr/>
        </p:nvSpPr>
        <p:spPr>
          <a:xfrm>
            <a:off x="2971800" y="29260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08960" y="3072384"/>
            <a:ext cx="512064" cy="512064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6976" y="320040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37490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3749040" y="33284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 &amp; formulir</a:t>
            </a:r>
            <a:endParaRPr lang="en-US" sz="1000" dirty="0"/>
          </a:p>
        </p:txBody>
      </p:sp>
      <p:sp>
        <p:nvSpPr>
          <p:cNvPr id="33" name="Halaman Berita"/>
          <p:cNvSpPr/>
          <p:nvPr/>
        </p:nvSpPr>
        <p:spPr>
          <a:xfrm>
            <a:off x="457200" y="38404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94360" y="3986784"/>
            <a:ext cx="512064" cy="512064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" y="411480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344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Berita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234440" y="42428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berita terbaru</a:t>
            </a:r>
            <a:endParaRPr lang="en-US" sz="1000" dirty="0"/>
          </a:p>
        </p:txBody>
      </p:sp>
      <p:sp>
        <p:nvSpPr>
          <p:cNvPr id="38" name="Halaman Artikel"/>
          <p:cNvSpPr/>
          <p:nvPr/>
        </p:nvSpPr>
        <p:spPr>
          <a:xfrm>
            <a:off x="2971800" y="3840480"/>
            <a:ext cx="237744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3108960" y="3986784"/>
            <a:ext cx="512064" cy="512064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6976" y="4114800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374904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Artikel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3749040" y="4242816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artikel belajar</a:t>
            </a:r>
            <a:endParaRPr lang="en-US" sz="1000" dirty="0"/>
          </a:p>
        </p:txBody>
      </p:sp>
      <p:sp>
        <p:nvSpPr>
          <p:cNvPr id="43" name="Placeholder screenshot"/>
          <p:cNvSpPr/>
          <p:nvPr/>
        </p:nvSpPr>
        <p:spPr>
          <a:xfrm>
            <a:off x="5577840" y="1097280"/>
            <a:ext cx="3108960" cy="3547872"/>
          </a:xfrm>
          <a:prstGeom prst="roundRect">
            <a:avLst>
              <a:gd name="adj" fmla="val 3529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03720" y="2197120"/>
            <a:ext cx="457200" cy="41148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5715000" y="2700040"/>
            <a:ext cx="2834640" cy="185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Beranda (index.html) — tampilkan slider + bagian "Kursus Unggulan Kami", lebar layar penuh</a:t>
            </a:r>
            <a:endParaRPr lang="en-US" sz="1100" dirty="0"/>
          </a:p>
        </p:txBody>
      </p:sp>
      <p:sp>
        <p:nvSpPr>
          <p:cNvPr id="4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Teknologi</a:t>
            </a:r>
            <a:endParaRPr lang="en-US" sz="3000" dirty="0"/>
          </a:p>
        </p:txBody>
      </p:sp>
      <p:sp>
        <p:nvSpPr>
          <p:cNvPr id="3" name="Teknologi HTML5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371600"/>
            <a:ext cx="731520" cy="731520"/>
          </a:xfrm>
          <a:prstGeom prst="ellipse">
            <a:avLst/>
          </a:prstGeom>
          <a:solidFill>
            <a:srgbClr val="E44D26"/>
          </a:solidFill>
          <a:ln w="12700">
            <a:solidFill>
              <a:srgbClr val="E44D2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halaman</a:t>
            </a:r>
            <a:endParaRPr lang="en-US" sz="1100" dirty="0"/>
          </a:p>
        </p:txBody>
      </p:sp>
      <p:sp>
        <p:nvSpPr>
          <p:cNvPr id="8" name="Teknologi CSS3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54680" y="1371600"/>
            <a:ext cx="731520" cy="73152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544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6032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56032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&amp; gaya</a:t>
            </a:r>
            <a:endParaRPr lang="en-US" sz="1100" dirty="0"/>
          </a:p>
        </p:txBody>
      </p:sp>
      <p:sp>
        <p:nvSpPr>
          <p:cNvPr id="13" name="Teknologi Bootstrap 3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57800" y="1371600"/>
            <a:ext cx="731520" cy="731520"/>
          </a:xfrm>
          <a:prstGeom prst="ellipse">
            <a:avLst/>
          </a:prstGeom>
          <a:solidFill>
            <a:srgbClr val="7952B3"/>
          </a:solidFill>
          <a:ln w="12700">
            <a:solidFill>
              <a:srgbClr val="7952B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5544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66344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3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6344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responsif</a:t>
            </a:r>
            <a:endParaRPr lang="en-US" sz="1100" dirty="0"/>
          </a:p>
        </p:txBody>
      </p:sp>
      <p:sp>
        <p:nvSpPr>
          <p:cNvPr id="18" name="Teknologi jQuery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60920" y="1371600"/>
            <a:ext cx="731520" cy="731520"/>
          </a:xfrm>
          <a:prstGeom prst="ellipse">
            <a:avLst/>
          </a:prstGeom>
          <a:solidFill>
            <a:srgbClr val="0868AC"/>
          </a:solidFill>
          <a:ln w="12700">
            <a:solidFill>
              <a:srgbClr val="0868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5544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766560" y="21488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jQuery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766560" y="2468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</a:t>
            </a:r>
            <a:endParaRPr lang="en-US" sz="1100" dirty="0"/>
          </a:p>
        </p:txBody>
      </p:sp>
      <p:sp>
        <p:nvSpPr>
          <p:cNvPr id="23" name="Teknologi FlexSlider"/>
          <p:cNvSpPr/>
          <p:nvPr/>
        </p:nvSpPr>
        <p:spPr>
          <a:xfrm>
            <a:off x="45720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51560" y="3200400"/>
            <a:ext cx="731520" cy="73152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440" y="338328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720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FlexSlider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 gambar</a:t>
            </a:r>
            <a:endParaRPr lang="en-US" sz="1100" dirty="0"/>
          </a:p>
        </p:txBody>
      </p:sp>
      <p:sp>
        <p:nvSpPr>
          <p:cNvPr id="28" name="Teknologi Fancybox"/>
          <p:cNvSpPr/>
          <p:nvPr/>
        </p:nvSpPr>
        <p:spPr>
          <a:xfrm>
            <a:off x="256032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154680" y="3200400"/>
            <a:ext cx="731520" cy="73152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560" y="338328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56032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Fancybox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256032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 galeri</a:t>
            </a:r>
            <a:endParaRPr lang="en-US" sz="1100" dirty="0"/>
          </a:p>
        </p:txBody>
      </p:sp>
      <p:sp>
        <p:nvSpPr>
          <p:cNvPr id="33" name="Teknologi Font Awesome"/>
          <p:cNvSpPr/>
          <p:nvPr/>
        </p:nvSpPr>
        <p:spPr>
          <a:xfrm>
            <a:off x="466344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5257800" y="3200400"/>
            <a:ext cx="731520" cy="731520"/>
          </a:xfrm>
          <a:prstGeom prst="ellipse">
            <a:avLst/>
          </a:prstGeom>
          <a:solidFill>
            <a:srgbClr val="339AF0"/>
          </a:solidFill>
          <a:ln w="12700">
            <a:solidFill>
              <a:srgbClr val="339AF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383280"/>
            <a:ext cx="365760" cy="36576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66344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Awesome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466344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Ikon</a:t>
            </a:r>
            <a:endParaRPr lang="en-US" sz="1100" dirty="0"/>
          </a:p>
        </p:txBody>
      </p:sp>
      <p:sp>
        <p:nvSpPr>
          <p:cNvPr id="38" name="Teknologi Git &amp; GitHub"/>
          <p:cNvSpPr/>
          <p:nvPr/>
        </p:nvSpPr>
        <p:spPr>
          <a:xfrm>
            <a:off x="6766560" y="3017520"/>
            <a:ext cx="1920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7360920" y="3200400"/>
            <a:ext cx="731520" cy="731520"/>
          </a:xfrm>
          <a:prstGeom prst="ellipse">
            <a:avLst/>
          </a:prstGeom>
          <a:solidFill>
            <a:srgbClr val="24292F"/>
          </a:solidFill>
          <a:ln w="12700">
            <a:solidFill>
              <a:srgbClr val="24292F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3800" y="338328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766560" y="3977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6766560" y="42976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Kolaborasi</a:t>
            </a:r>
            <a:endParaRPr lang="en-US" sz="1100" dirty="0"/>
          </a:p>
        </p:txBody>
      </p:sp>
      <p:sp>
        <p:nvSpPr>
          <p:cNvPr id="4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Pengerjaan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343400" y="475488"/>
            <a:ext cx="502920" cy="256032"/>
          </a:xfrm>
          <a:prstGeom prst="roundRect">
            <a:avLst>
              <a:gd name="adj" fmla="val 50000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43400" y="47548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910328" y="47548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10328" y="475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0136" y="47548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0136" y="475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9944" y="47548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9944" y="47548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205472" y="47548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05472" y="475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8046720" cy="0"/>
          </a:xfrm>
          <a:prstGeom prst="line">
            <a:avLst/>
          </a:prstGeom>
          <a:noFill/>
          <a:ln w="3810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14400" y="2331720"/>
            <a:ext cx="0" cy="182880"/>
          </a:xfrm>
          <a:prstGeom prst="line">
            <a:avLst/>
          </a:prstGeom>
          <a:noFill/>
          <a:ln w="25400">
            <a:solidFill>
              <a:srgbClr val="0F7F6A"/>
            </a:solidFill>
            <a:prstDash val="solid"/>
          </a:ln>
        </p:spPr>
      </p:sp>
      <p:sp>
        <p:nvSpPr>
          <p:cNvPr id="15" name="Tahap 1"/>
          <p:cNvSpPr/>
          <p:nvPr/>
        </p:nvSpPr>
        <p:spPr>
          <a:xfrm>
            <a:off x="365760" y="105156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051560"/>
            <a:ext cx="1508760" cy="64008"/>
          </a:xfrm>
          <a:prstGeom prst="rect">
            <a:avLst/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" y="11612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bisnis &amp; pembagian peran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16367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bisnis &amp; notulen oleh Dokumentator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" y="2514600"/>
            <a:ext cx="457200" cy="457200"/>
          </a:xfrm>
          <a:prstGeom prst="ellipse">
            <a:avLst/>
          </a:prstGeom>
          <a:solidFill>
            <a:srgbClr val="0F7F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959468" y="2971800"/>
            <a:ext cx="0" cy="228600"/>
          </a:xfrm>
          <a:prstGeom prst="line">
            <a:avLst/>
          </a:prstGeom>
          <a:noFill/>
          <a:ln w="25400">
            <a:solidFill>
              <a:srgbClr val="0F7F6A"/>
            </a:solidFill>
            <a:prstDash val="solid"/>
          </a:ln>
        </p:spPr>
      </p:sp>
      <p:sp>
        <p:nvSpPr>
          <p:cNvPr id="22" name="Tahap 2"/>
          <p:cNvSpPr/>
          <p:nvPr/>
        </p:nvSpPr>
        <p:spPr>
          <a:xfrm>
            <a:off x="1113648" y="32004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205088" y="3200400"/>
            <a:ext cx="1508760" cy="64008"/>
          </a:xfrm>
          <a:prstGeom prst="rect">
            <a:avLst/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23376" y="33101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repo, fork &amp; template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23376" y="378561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chore/setup-template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730868" y="2514600"/>
            <a:ext cx="457200" cy="457200"/>
          </a:xfrm>
          <a:prstGeom prst="ellipse">
            <a:avLst/>
          </a:prstGeom>
          <a:solidFill>
            <a:srgbClr val="0F7F6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7308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3004536" y="2331720"/>
            <a:ext cx="0" cy="182880"/>
          </a:xfrm>
          <a:prstGeom prst="line">
            <a:avLst/>
          </a:prstGeom>
          <a:noFill/>
          <a:ln w="25400">
            <a:solidFill>
              <a:srgbClr val="2FA4E7"/>
            </a:solidFill>
            <a:prstDash val="solid"/>
          </a:ln>
        </p:spPr>
      </p:sp>
      <p:sp>
        <p:nvSpPr>
          <p:cNvPr id="29" name="Tahap 3"/>
          <p:cNvSpPr/>
          <p:nvPr/>
        </p:nvSpPr>
        <p:spPr>
          <a:xfrm>
            <a:off x="2158716" y="105156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50156" y="1051560"/>
            <a:ext cx="1508760" cy="64008"/>
          </a:xfrm>
          <a:prstGeom prst="rect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68444" y="11612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Navbar, footer &amp; CSS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2268444" y="16367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feature/navbar-footer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75936" y="2514600"/>
            <a:ext cx="457200" cy="457200"/>
          </a:xfrm>
          <a:prstGeom prst="ellipse">
            <a:avLst/>
          </a:prstGeom>
          <a:solidFill>
            <a:srgbClr val="2FA4E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775936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4049603" y="2971800"/>
            <a:ext cx="0" cy="228600"/>
          </a:xfrm>
          <a:prstGeom prst="line">
            <a:avLst/>
          </a:prstGeom>
          <a:noFill/>
          <a:ln w="25400">
            <a:solidFill>
              <a:srgbClr val="14A085"/>
            </a:solidFill>
            <a:prstDash val="solid"/>
          </a:ln>
        </p:spPr>
      </p:sp>
      <p:sp>
        <p:nvSpPr>
          <p:cNvPr id="36" name="Tahap 4"/>
          <p:cNvSpPr/>
          <p:nvPr/>
        </p:nvSpPr>
        <p:spPr>
          <a:xfrm>
            <a:off x="3203783" y="32004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95223" y="3200400"/>
            <a:ext cx="1508760" cy="64008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313511" y="33101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paralel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3313511" y="378561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homepage, about, courses, gallery, pricing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contact, posts, news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821003" y="2514600"/>
            <a:ext cx="457200" cy="457200"/>
          </a:xfrm>
          <a:prstGeom prst="ellipse">
            <a:avLst/>
          </a:prstGeom>
          <a:solidFill>
            <a:srgbClr val="14A08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21003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4159331" y="2441448"/>
            <a:ext cx="219456" cy="219456"/>
          </a:xfrm>
          <a:prstGeom prst="ellipse">
            <a:avLst/>
          </a:prstGeom>
          <a:solidFill>
            <a:srgbClr val="2FA4E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094671" y="2331720"/>
            <a:ext cx="0" cy="182880"/>
          </a:xfrm>
          <a:prstGeom prst="line">
            <a:avLst/>
          </a:prstGeom>
          <a:noFill/>
          <a:ln w="25400">
            <a:solidFill>
              <a:srgbClr val="D867B2"/>
            </a:solidFill>
            <a:prstDash val="solid"/>
          </a:ln>
        </p:spPr>
      </p:sp>
      <p:sp>
        <p:nvSpPr>
          <p:cNvPr id="44" name="Tahap 5"/>
          <p:cNvSpPr/>
          <p:nvPr/>
        </p:nvSpPr>
        <p:spPr>
          <a:xfrm>
            <a:off x="4248851" y="105156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340291" y="1051560"/>
            <a:ext cx="1508760" cy="64008"/>
          </a:xfrm>
          <a:prstGeom prst="rect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358579" y="11612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6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&amp; perbaikan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358579" y="16367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Komentar, revisi, ulangi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66071" y="2514600"/>
            <a:ext cx="457200" cy="457200"/>
          </a:xfrm>
          <a:prstGeom prst="ellipse">
            <a:avLst/>
          </a:prstGeom>
          <a:solidFill>
            <a:srgbClr val="D867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866071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6139739" y="2971800"/>
            <a:ext cx="0" cy="228600"/>
          </a:xfrm>
          <a:prstGeom prst="line">
            <a:avLst/>
          </a:prstGeom>
          <a:noFill/>
          <a:ln w="25400">
            <a:solidFill>
              <a:srgbClr val="D867B2"/>
            </a:solidFill>
            <a:prstDash val="solid"/>
          </a:ln>
        </p:spPr>
      </p:sp>
      <p:sp>
        <p:nvSpPr>
          <p:cNvPr id="51" name="Tahap 6"/>
          <p:cNvSpPr/>
          <p:nvPr/>
        </p:nvSpPr>
        <p:spPr>
          <a:xfrm>
            <a:off x="5293919" y="32004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385359" y="3200400"/>
            <a:ext cx="1508760" cy="64008"/>
          </a:xfrm>
          <a:prstGeom prst="rect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403647" y="33101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86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merge ke main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403647" y="378561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semua poin beres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11139" y="2514600"/>
            <a:ext cx="457200" cy="457200"/>
          </a:xfrm>
          <a:prstGeom prst="ellipse">
            <a:avLst/>
          </a:prstGeom>
          <a:solidFill>
            <a:srgbClr val="D867B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911139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7184807" y="2331720"/>
            <a:ext cx="0" cy="182880"/>
          </a:xfrm>
          <a:prstGeom prst="line">
            <a:avLst/>
          </a:prstGeom>
          <a:noFill/>
          <a:ln w="25400">
            <a:solidFill>
              <a:srgbClr val="E9573F"/>
            </a:solidFill>
            <a:prstDash val="solid"/>
          </a:ln>
        </p:spPr>
      </p:sp>
      <p:sp>
        <p:nvSpPr>
          <p:cNvPr id="58" name="Tahap 7"/>
          <p:cNvSpPr/>
          <p:nvPr/>
        </p:nvSpPr>
        <p:spPr>
          <a:xfrm>
            <a:off x="6338987" y="105156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30427" y="1051560"/>
            <a:ext cx="1508760" cy="64008"/>
          </a:xfrm>
          <a:prstGeom prst="rect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448715" y="116128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&amp; presentasi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6448715" y="16367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docs/readme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956207" y="2514600"/>
            <a:ext cx="457200" cy="457200"/>
          </a:xfrm>
          <a:prstGeom prst="ellipse">
            <a:avLst/>
          </a:prstGeom>
          <a:solidFill>
            <a:srgbClr val="E957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956207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8229874" y="2971800"/>
            <a:ext cx="0" cy="228600"/>
          </a:xfrm>
          <a:prstGeom prst="line">
            <a:avLst/>
          </a:prstGeom>
          <a:noFill/>
          <a:ln w="25400">
            <a:solidFill>
              <a:srgbClr val="E9573F"/>
            </a:solidFill>
            <a:prstDash val="solid"/>
          </a:ln>
        </p:spPr>
      </p:sp>
      <p:sp>
        <p:nvSpPr>
          <p:cNvPr id="65" name="Tahap 8"/>
          <p:cNvSpPr/>
          <p:nvPr/>
        </p:nvSpPr>
        <p:spPr>
          <a:xfrm>
            <a:off x="7086600" y="3200400"/>
            <a:ext cx="1691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178040" y="3200400"/>
            <a:ext cx="1508760" cy="64008"/>
          </a:xfrm>
          <a:prstGeom prst="rect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196328" y="3310128"/>
            <a:ext cx="1472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log &amp; presentasi akhir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7196328" y="378561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review/review.md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001274" y="2514600"/>
            <a:ext cx="457200" cy="457200"/>
          </a:xfrm>
          <a:prstGeom prst="ellipse">
            <a:avLst/>
          </a:prstGeom>
          <a:solidFill>
            <a:srgbClr val="E957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001274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71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GitHub (Fork)</a:t>
            </a:r>
            <a:endParaRPr lang="en-US" sz="3000" dirty="0"/>
          </a:p>
        </p:txBody>
      </p:sp>
      <p:sp>
        <p:nvSpPr>
          <p:cNvPr id="3" name="Langkah Fork"/>
          <p:cNvSpPr/>
          <p:nvPr/>
        </p:nvSpPr>
        <p:spPr>
          <a:xfrm>
            <a:off x="457200" y="109728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298448"/>
            <a:ext cx="457200" cy="45720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1412748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78992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" y="100584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Langkah Branch"/>
          <p:cNvSpPr/>
          <p:nvPr/>
        </p:nvSpPr>
        <p:spPr>
          <a:xfrm>
            <a:off x="2121408" y="109728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212848" y="1298448"/>
            <a:ext cx="457200" cy="45720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148" y="1412748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743200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2029968" y="100584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029968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Langkah Commit"/>
          <p:cNvSpPr/>
          <p:nvPr/>
        </p:nvSpPr>
        <p:spPr>
          <a:xfrm>
            <a:off x="3785616" y="109728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877056" y="1298448"/>
            <a:ext cx="457200" cy="45720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1356" y="141274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07408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694176" y="100584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694176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Langkah Push ke fork"/>
          <p:cNvSpPr/>
          <p:nvPr/>
        </p:nvSpPr>
        <p:spPr>
          <a:xfrm>
            <a:off x="5449824" y="109728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541264" y="1298448"/>
            <a:ext cx="457200" cy="45720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564" y="1412748"/>
            <a:ext cx="228600" cy="2286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071616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ke fork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358384" y="100584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5358384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Langkah Pull Request"/>
          <p:cNvSpPr/>
          <p:nvPr/>
        </p:nvSpPr>
        <p:spPr>
          <a:xfrm>
            <a:off x="7114032" y="109728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205472" y="1298448"/>
            <a:ext cx="457200" cy="45720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772" y="1412748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735824" y="109728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022592" y="100584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7022592" y="1005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Langkah Review &amp; Komentar"/>
          <p:cNvSpPr/>
          <p:nvPr/>
        </p:nvSpPr>
        <p:spPr>
          <a:xfrm>
            <a:off x="7114032" y="2377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7205472" y="2578608"/>
            <a:ext cx="457200" cy="45720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9772" y="269290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735824" y="23774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Komentar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022592" y="228600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7022592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Langkah Perbaikan"/>
          <p:cNvSpPr/>
          <p:nvPr/>
        </p:nvSpPr>
        <p:spPr>
          <a:xfrm>
            <a:off x="5449824" y="2377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5541264" y="2578608"/>
            <a:ext cx="457200" cy="45720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5564" y="2692908"/>
            <a:ext cx="228600" cy="22860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071616" y="23774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Perbaikan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5358384" y="228600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5"/>
          <p:cNvSpPr txBox="1"/>
          <p:nvPr/>
        </p:nvSpPr>
        <p:spPr>
          <a:xfrm>
            <a:off x="5358384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5" name="Langkah Approve"/>
          <p:cNvSpPr/>
          <p:nvPr/>
        </p:nvSpPr>
        <p:spPr>
          <a:xfrm>
            <a:off x="3785616" y="2377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877056" y="2578608"/>
            <a:ext cx="457200" cy="457200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91356" y="2692908"/>
            <a:ext cx="228600" cy="228600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4407408" y="23774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200" dirty="0"/>
          </a:p>
        </p:txBody>
      </p:sp>
      <p:sp>
        <p:nvSpPr>
          <p:cNvPr id="49" name="Shape 39"/>
          <p:cNvSpPr/>
          <p:nvPr/>
        </p:nvSpPr>
        <p:spPr>
          <a:xfrm>
            <a:off x="3694176" y="228600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3694176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1" name="Langkah Merge ke main"/>
          <p:cNvSpPr/>
          <p:nvPr/>
        </p:nvSpPr>
        <p:spPr>
          <a:xfrm>
            <a:off x="2121408" y="2377440"/>
            <a:ext cx="1481328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2212848" y="2578608"/>
            <a:ext cx="457200" cy="457200"/>
          </a:xfrm>
          <a:prstGeom prst="ellipse">
            <a:avLst/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27148" y="2692908"/>
            <a:ext cx="228600" cy="2286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2743200" y="2377440"/>
            <a:ext cx="822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ke main</a:t>
            </a:r>
            <a:endParaRPr lang="en-US" sz="1200" dirty="0"/>
          </a:p>
        </p:txBody>
      </p:sp>
      <p:sp>
        <p:nvSpPr>
          <p:cNvPr id="55" name="Shape 44"/>
          <p:cNvSpPr/>
          <p:nvPr/>
        </p:nvSpPr>
        <p:spPr>
          <a:xfrm>
            <a:off x="2029968" y="2286000"/>
            <a:ext cx="274320" cy="27432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45"/>
          <p:cNvSpPr txBox="1"/>
          <p:nvPr/>
        </p:nvSpPr>
        <p:spPr>
          <a:xfrm>
            <a:off x="2029968" y="2286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7" name="Shape 46"/>
          <p:cNvSpPr/>
          <p:nvPr/>
        </p:nvSpPr>
        <p:spPr>
          <a:xfrm>
            <a:off x="1956816" y="1527048"/>
            <a:ext cx="146304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>
            <a:off x="3621024" y="1527048"/>
            <a:ext cx="146304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5285232" y="1527048"/>
            <a:ext cx="146304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>
            <a:off x="6949440" y="1527048"/>
            <a:ext cx="146304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1" name="Shape 50"/>
          <p:cNvSpPr/>
          <p:nvPr/>
        </p:nvSpPr>
        <p:spPr>
          <a:xfrm>
            <a:off x="7854696" y="1993392"/>
            <a:ext cx="0" cy="347472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2" name="Shape 51"/>
          <p:cNvSpPr/>
          <p:nvPr/>
        </p:nvSpPr>
        <p:spPr>
          <a:xfrm flipH="1">
            <a:off x="6931152" y="2807208"/>
            <a:ext cx="164592" cy="0"/>
          </a:xfrm>
          <a:prstGeom prst="line">
            <a:avLst/>
          </a:prstGeom>
          <a:noFill/>
          <a:ln w="31750">
            <a:solidFill>
              <a:srgbClr val="E9573F"/>
            </a:solidFill>
            <a:prstDash val="solid"/>
            <a:tailEnd type="triangle"/>
          </a:ln>
        </p:spPr>
      </p:sp>
      <p:sp>
        <p:nvSpPr>
          <p:cNvPr id="63" name="Shape 52"/>
          <p:cNvSpPr/>
          <p:nvPr/>
        </p:nvSpPr>
        <p:spPr>
          <a:xfrm flipH="1">
            <a:off x="5266944" y="2807208"/>
            <a:ext cx="164592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4" name="Shape 53"/>
          <p:cNvSpPr/>
          <p:nvPr/>
        </p:nvSpPr>
        <p:spPr>
          <a:xfrm flipH="1">
            <a:off x="3602736" y="2807208"/>
            <a:ext cx="164592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65" name="Shape 54"/>
          <p:cNvSpPr/>
          <p:nvPr/>
        </p:nvSpPr>
        <p:spPr>
          <a:xfrm>
            <a:off x="6190488" y="3246120"/>
            <a:ext cx="0" cy="201168"/>
          </a:xfrm>
          <a:prstGeom prst="line">
            <a:avLst/>
          </a:prstGeom>
          <a:noFill/>
          <a:ln w="31750">
            <a:solidFill>
              <a:srgbClr val="E9573F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6190488" y="3447288"/>
            <a:ext cx="1664208" cy="0"/>
          </a:xfrm>
          <a:prstGeom prst="line">
            <a:avLst/>
          </a:prstGeom>
          <a:noFill/>
          <a:ln w="31750">
            <a:solidFill>
              <a:srgbClr val="E9573F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 flipV="1">
            <a:off x="7854696" y="3246120"/>
            <a:ext cx="0" cy="201168"/>
          </a:xfrm>
          <a:prstGeom prst="line">
            <a:avLst/>
          </a:prstGeom>
          <a:noFill/>
          <a:ln w="31750">
            <a:solidFill>
              <a:srgbClr val="E9573F"/>
            </a:solidFill>
            <a:prstDash val="solid"/>
            <a:tailEnd type="triangle"/>
          </a:ln>
        </p:spPr>
      </p:sp>
      <p:sp>
        <p:nvSpPr>
          <p:cNvPr id="68" name="Text 57"/>
          <p:cNvSpPr txBox="1"/>
          <p:nvPr/>
        </p:nvSpPr>
        <p:spPr>
          <a:xfrm>
            <a:off x="4270248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Ulangi sampai disetujui</a:t>
            </a:r>
            <a:endParaRPr lang="en-US" sz="1100" dirty="0"/>
          </a:p>
        </p:txBody>
      </p:sp>
      <p:sp>
        <p:nvSpPr>
          <p:cNvPr id="69" name="Shape 58"/>
          <p:cNvSpPr/>
          <p:nvPr/>
        </p:nvSpPr>
        <p:spPr>
          <a:xfrm>
            <a:off x="457200" y="3310128"/>
            <a:ext cx="3017520" cy="274320"/>
          </a:xfrm>
          <a:prstGeom prst="roundRect">
            <a:avLst>
              <a:gd name="adj" fmla="val 46667"/>
            </a:avLst>
          </a:prstGeom>
          <a:solidFill>
            <a:srgbClr val="0F7F6A"/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70" name="Text 59"/>
          <p:cNvSpPr txBox="1"/>
          <p:nvPr/>
        </p:nvSpPr>
        <p:spPr>
          <a:xfrm>
            <a:off x="457200" y="3310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yang push langsung ke main</a:t>
            </a:r>
            <a:endParaRPr lang="en-US" sz="1100" dirty="0"/>
          </a:p>
        </p:txBody>
      </p:sp>
      <p:sp>
        <p:nvSpPr>
          <p:cNvPr id="71" name="Placeholder screenshot"/>
          <p:cNvSpPr/>
          <p:nvPr/>
        </p:nvSpPr>
        <p:spPr>
          <a:xfrm>
            <a:off x="457200" y="3749040"/>
            <a:ext cx="8229600" cy="1005840"/>
          </a:xfrm>
          <a:prstGeom prst="roundRect">
            <a:avLst>
              <a:gd name="adj" fmla="val 10909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7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46270" y="3829507"/>
            <a:ext cx="251460" cy="226314"/>
          </a:xfrm>
          <a:prstGeom prst="rect">
            <a:avLst/>
          </a:prstGeom>
        </p:spPr>
      </p:pic>
      <p:sp>
        <p:nvSpPr>
          <p:cNvPr id="73" name="Text 61"/>
          <p:cNvSpPr txBox="1"/>
          <p:nvPr/>
        </p:nvSpPr>
        <p:spPr>
          <a:xfrm>
            <a:off x="594360" y="4126687"/>
            <a:ext cx="7955280" cy="536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dari fork ke Borayaa/JendEdu — komentar Reviewer + tombol Approve</a:t>
            </a:r>
            <a:endParaRPr lang="en-US" sz="1100" dirty="0"/>
          </a:p>
        </p:txBody>
      </p:sp>
      <p:sp>
        <p:nvSpPr>
          <p:cNvPr id="74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Kontribusi Tim</a:t>
            </a:r>
            <a:endParaRPr lang="en-US" sz="3000" dirty="0"/>
          </a:p>
        </p:txBody>
      </p:sp>
      <p:sp>
        <p:nvSpPr>
          <p:cNvPr id="3" name="Kontribusi Coder 1"/>
          <p:cNvSpPr/>
          <p:nvPr/>
        </p:nvSpPr>
        <p:spPr>
          <a:xfrm>
            <a:off x="457200" y="1097280"/>
            <a:ext cx="5074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66928" y="1188720"/>
            <a:ext cx="640080" cy="640080"/>
          </a:xfrm>
          <a:prstGeom prst="ellipse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53312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1887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15087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branch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11704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8880" y="11704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chore/setup-template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023360" y="11704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023360" y="11704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feature/homepage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14264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468880" y="14264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feature/about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0" y="14264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023360" y="14264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feature/courses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468880" y="1682496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468880" y="16824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feature/gallery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23360" y="1682496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023360" y="16824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feature/pricing</a:t>
            </a:r>
            <a:endParaRPr lang="en-US" sz="1000" dirty="0"/>
          </a:p>
        </p:txBody>
      </p:sp>
      <p:sp>
        <p:nvSpPr>
          <p:cNvPr id="20" name="Kontribusi Coder 2"/>
          <p:cNvSpPr/>
          <p:nvPr/>
        </p:nvSpPr>
        <p:spPr>
          <a:xfrm>
            <a:off x="457200" y="2011680"/>
            <a:ext cx="5074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66928" y="2103120"/>
            <a:ext cx="640080" cy="640080"/>
          </a:xfrm>
          <a:prstGeom prst="ellipse">
            <a:avLst/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67712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280160" y="21031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2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1280160" y="24231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A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branch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468880" y="20848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2468880" y="20848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feature/navbar-footer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023360" y="20848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4023360" y="20848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feature/contact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468880" y="23408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468880" y="23408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feature/posts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023360" y="23408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2FA4E7"/>
          </a:solidFill>
          <a:ln w="12700">
            <a:solidFill>
              <a:srgbClr val="2FA4E7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4023360" y="23408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feature/news</a:t>
            </a:r>
            <a:endParaRPr lang="en-US" sz="1000" dirty="0"/>
          </a:p>
        </p:txBody>
      </p:sp>
      <p:sp>
        <p:nvSpPr>
          <p:cNvPr id="33" name="Kontribusi Reviewer"/>
          <p:cNvSpPr/>
          <p:nvPr/>
        </p:nvSpPr>
        <p:spPr>
          <a:xfrm>
            <a:off x="457200" y="2926080"/>
            <a:ext cx="5074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566928" y="3017520"/>
            <a:ext cx="640080" cy="640080"/>
          </a:xfrm>
          <a:prstGeom prst="ellipse">
            <a:avLst/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182112"/>
            <a:ext cx="274320" cy="274320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1280160" y="30175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300" dirty="0"/>
          </a:p>
        </p:txBody>
      </p:sp>
      <p:sp>
        <p:nvSpPr>
          <p:cNvPr id="37" name="Text 32"/>
          <p:cNvSpPr txBox="1"/>
          <p:nvPr/>
        </p:nvSpPr>
        <p:spPr>
          <a:xfrm>
            <a:off x="128016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6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PR + 1 branch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2468880" y="29992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2468880" y="2999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Komentar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023360" y="29992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023360" y="29992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Minta perbaikan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2468880" y="32552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2468880" y="32552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4023360" y="32552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D867B2"/>
          </a:solidFill>
          <a:ln w="12700">
            <a:solidFill>
              <a:srgbClr val="D867B2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4023360" y="32552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docs/review-log</a:t>
            </a:r>
            <a:endParaRPr lang="en-US" sz="1000" dirty="0"/>
          </a:p>
        </p:txBody>
      </p:sp>
      <p:sp>
        <p:nvSpPr>
          <p:cNvPr id="46" name="Kontribusi Dokumentator"/>
          <p:cNvSpPr/>
          <p:nvPr/>
        </p:nvSpPr>
        <p:spPr>
          <a:xfrm>
            <a:off x="457200" y="3840480"/>
            <a:ext cx="50749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566928" y="3931920"/>
            <a:ext cx="640080" cy="640080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4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096512"/>
            <a:ext cx="274320" cy="27432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1280160" y="393192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Dokumentator</a:t>
            </a:r>
            <a:endParaRPr lang="en-US" sz="1300" dirty="0"/>
          </a:p>
        </p:txBody>
      </p:sp>
      <p:sp>
        <p:nvSpPr>
          <p:cNvPr id="50" name="Text 44"/>
          <p:cNvSpPr txBox="1"/>
          <p:nvPr/>
        </p:nvSpPr>
        <p:spPr>
          <a:xfrm>
            <a:off x="1280160" y="4251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5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branch + 6 dokumen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2468880" y="39136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2468880" y="3913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docs/readme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4023360" y="3913632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54" name="Text 48"/>
          <p:cNvSpPr txBox="1"/>
          <p:nvPr/>
        </p:nvSpPr>
        <p:spPr>
          <a:xfrm>
            <a:off x="4023360" y="3913632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2468880" y="41696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56" name="Text 50"/>
          <p:cNvSpPr txBox="1"/>
          <p:nvPr/>
        </p:nvSpPr>
        <p:spPr>
          <a:xfrm>
            <a:off x="2468880" y="41696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 PPTX</a:t>
            </a:r>
            <a:endParaRPr lang="en-US" sz="1000" dirty="0"/>
          </a:p>
        </p:txBody>
      </p:sp>
      <p:sp>
        <p:nvSpPr>
          <p:cNvPr id="57" name="Shape 51"/>
          <p:cNvSpPr/>
          <p:nvPr/>
        </p:nvSpPr>
        <p:spPr>
          <a:xfrm>
            <a:off x="4023360" y="4169664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58" name="Text 52"/>
          <p:cNvSpPr txBox="1"/>
          <p:nvPr/>
        </p:nvSpPr>
        <p:spPr>
          <a:xfrm>
            <a:off x="4023360" y="4169664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Naskah presenter</a:t>
            </a:r>
            <a:endParaRPr lang="en-US" sz="1000" dirty="0"/>
          </a:p>
        </p:txBody>
      </p:sp>
      <p:sp>
        <p:nvSpPr>
          <p:cNvPr id="59" name="Shape 53"/>
          <p:cNvSpPr/>
          <p:nvPr/>
        </p:nvSpPr>
        <p:spPr>
          <a:xfrm>
            <a:off x="2468880" y="4425696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60" name="Text 54"/>
          <p:cNvSpPr txBox="1"/>
          <p:nvPr/>
        </p:nvSpPr>
        <p:spPr>
          <a:xfrm>
            <a:off x="2468880" y="44256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bisnis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4023360" y="4425696"/>
            <a:ext cx="1481328" cy="228600"/>
          </a:xfrm>
          <a:prstGeom prst="roundRect">
            <a:avLst>
              <a:gd name="adj" fmla="val 56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62" name="Text 56"/>
          <p:cNvSpPr txBox="1"/>
          <p:nvPr/>
        </p:nvSpPr>
        <p:spPr>
          <a:xfrm>
            <a:off x="4023360" y="4425696"/>
            <a:ext cx="1481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situs</a:t>
            </a:r>
            <a:endParaRPr lang="en-US" sz="1000" dirty="0"/>
          </a:p>
        </p:txBody>
      </p:sp>
      <p:sp>
        <p:nvSpPr>
          <p:cNvPr id="63" name="Placeholder screenshot"/>
          <p:cNvSpPr/>
          <p:nvPr/>
        </p:nvSpPr>
        <p:spPr>
          <a:xfrm>
            <a:off x="5760720" y="1097280"/>
            <a:ext cx="2926080" cy="3566160"/>
          </a:xfrm>
          <a:prstGeom prst="roundRect">
            <a:avLst>
              <a:gd name="adj" fmla="val 3750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6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2202790"/>
            <a:ext cx="457200" cy="411480"/>
          </a:xfrm>
          <a:prstGeom prst="rect">
            <a:avLst/>
          </a:prstGeom>
        </p:spPr>
      </p:pic>
      <p:sp>
        <p:nvSpPr>
          <p:cNvPr id="65" name="Text 58"/>
          <p:cNvSpPr txBox="1"/>
          <p:nvPr/>
        </p:nvSpPr>
        <p:spPr>
          <a:xfrm>
            <a:off x="5897880" y="2705710"/>
            <a:ext cx="2651760" cy="18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dari fork ke Borayaa/JendEdu — komentar Reviewer + tombol Approve</a:t>
            </a:r>
            <a:endParaRPr lang="en-US" sz="1100" dirty="0"/>
          </a:p>
        </p:txBody>
      </p:sp>
      <p:sp>
        <p:nvSpPr>
          <p:cNvPr id="66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Website</a:t>
            </a:r>
            <a:endParaRPr lang="en-US" sz="3000" dirty="0"/>
          </a:p>
        </p:txBody>
      </p:sp>
      <p:sp>
        <p:nvSpPr>
          <p:cNvPr id="3" name="Placeholder screenshot"/>
          <p:cNvSpPr/>
          <p:nvPr/>
        </p:nvSpPr>
        <p:spPr>
          <a:xfrm>
            <a:off x="457200" y="1097280"/>
            <a:ext cx="4937760" cy="3566160"/>
          </a:xfrm>
          <a:prstGeom prst="roundRect">
            <a:avLst>
              <a:gd name="adj" fmla="val 3077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202790"/>
            <a:ext cx="457200" cy="411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2705710"/>
            <a:ext cx="4663440" cy="1866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Beranda (index.html) — tampilkan slider + bagian "Kursus Unggulan Kami", lebar layar penuh</a:t>
            </a:r>
            <a:endParaRPr lang="en-US" sz="1100" dirty="0"/>
          </a:p>
        </p:txBody>
      </p:sp>
      <p:sp>
        <p:nvSpPr>
          <p:cNvPr id="6" name="Placeholder screenshot"/>
          <p:cNvSpPr/>
          <p:nvPr/>
        </p:nvSpPr>
        <p:spPr>
          <a:xfrm>
            <a:off x="5577840" y="1097280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0865" y="1232611"/>
            <a:ext cx="422910" cy="380619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715000" y="1701241"/>
            <a:ext cx="2834640" cy="996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Halaman Harga — 4 kartu paket</a:t>
            </a:r>
            <a:endParaRPr lang="en-US" sz="1100" dirty="0"/>
          </a:p>
        </p:txBody>
      </p:sp>
      <p:sp>
        <p:nvSpPr>
          <p:cNvPr id="9" name="Placeholder screenshot"/>
          <p:cNvSpPr/>
          <p:nvPr/>
        </p:nvSpPr>
        <p:spPr>
          <a:xfrm>
            <a:off x="5577840" y="2971800"/>
            <a:ext cx="3108960" cy="1691640"/>
          </a:xfrm>
          <a:prstGeom prst="roundRect">
            <a:avLst>
              <a:gd name="adj" fmla="val 6486"/>
            </a:avLst>
          </a:prstGeom>
          <a:solidFill>
            <a:srgbClr val="EFEFEF"/>
          </a:solidFill>
          <a:ln w="19050">
            <a:solidFill>
              <a:srgbClr val="9A9A9A"/>
            </a:solidFill>
            <a:prstDash val="dash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0865" y="3107131"/>
            <a:ext cx="422910" cy="380619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715000" y="3575761"/>
            <a:ext cx="2834640" cy="996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</a:t>
            </a:r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Tampilan mobile (lebar 375px)</a:t>
            </a:r>
            <a:endParaRPr lang="en-US" sz="11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 &amp; Pelajaran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749040" cy="256032"/>
          </a:xfrm>
          <a:prstGeom prst="roundRect">
            <a:avLst>
              <a:gd name="adj" fmla="val 50000"/>
            </a:avLst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TANTANGAN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37760" y="1005840"/>
            <a:ext cx="3749040" cy="256032"/>
          </a:xfrm>
          <a:prstGeom prst="roundRect">
            <a:avLst>
              <a:gd name="adj" fmla="val 50000"/>
            </a:avLst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005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PELAJARAN</a:t>
            </a:r>
            <a:endParaRPr lang="en-US" sz="1100" dirty="0"/>
          </a:p>
        </p:txBody>
      </p:sp>
      <p:sp>
        <p:nvSpPr>
          <p:cNvPr id="7" name="Tantangan 1"/>
          <p:cNvSpPr/>
          <p:nvPr/>
        </p:nvSpPr>
        <p:spPr>
          <a:xfrm>
            <a:off x="457200" y="141732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DEBE8"/>
          </a:solidFill>
          <a:ln w="12700">
            <a:solidFill>
              <a:srgbClr val="FDEB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618488"/>
            <a:ext cx="512064" cy="512064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46504"/>
            <a:ext cx="256032" cy="2560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463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Belajar Git, fork &amp; Pull Request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79392" y="1874520"/>
            <a:ext cx="585216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2" name="Pelajaran 1"/>
          <p:cNvSpPr/>
          <p:nvPr/>
        </p:nvSpPr>
        <p:spPr>
          <a:xfrm>
            <a:off x="4937760" y="1417320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074920" y="1618488"/>
            <a:ext cx="512064" cy="512064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936" y="174650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715000" y="146304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 tim tertib: tidak ada push langsung ke main</a:t>
            </a:r>
            <a:endParaRPr lang="en-US" sz="1300" dirty="0"/>
          </a:p>
        </p:txBody>
      </p:sp>
      <p:sp>
        <p:nvSpPr>
          <p:cNvPr id="16" name="Tantangan 2"/>
          <p:cNvSpPr/>
          <p:nvPr/>
        </p:nvSpPr>
        <p:spPr>
          <a:xfrm>
            <a:off x="457200" y="2496312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DEBE8"/>
          </a:solidFill>
          <a:ln w="12700">
            <a:solidFill>
              <a:srgbClr val="FDEBE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4360" y="2697480"/>
            <a:ext cx="512064" cy="512064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825496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34440" y="25420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navbar &amp; footer tetap konsisten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279392" y="2953512"/>
            <a:ext cx="585216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1" name="Pelajaran 2"/>
          <p:cNvSpPr/>
          <p:nvPr/>
        </p:nvSpPr>
        <p:spPr>
          <a:xfrm>
            <a:off x="4937760" y="2496312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074920" y="2697480"/>
            <a:ext cx="512064" cy="512064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936" y="2825496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715000" y="2542032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CSS bersama dan checklist review</a:t>
            </a:r>
            <a:endParaRPr lang="en-US" sz="1300" dirty="0"/>
          </a:p>
        </p:txBody>
      </p:sp>
      <p:sp>
        <p:nvSpPr>
          <p:cNvPr id="25" name="Tantangan 3"/>
          <p:cNvSpPr/>
          <p:nvPr/>
        </p:nvSpPr>
        <p:spPr>
          <a:xfrm>
            <a:off x="457200" y="3575304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FDEBE8"/>
          </a:solidFill>
          <a:ln w="12700">
            <a:solidFill>
              <a:srgbClr val="FDEBE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" y="3776472"/>
            <a:ext cx="512064" cy="512064"/>
          </a:xfrm>
          <a:prstGeom prst="ellipse">
            <a:avLst/>
          </a:prstGeom>
          <a:solidFill>
            <a:srgbClr val="E9573F"/>
          </a:solidFill>
          <a:ln w="12700">
            <a:solidFill>
              <a:srgbClr val="E9573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904488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34440" y="362102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menemukan kesalahan nyata: tag tidak tertutup, format harga tidak seragam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4279392" y="4032504"/>
            <a:ext cx="585216" cy="0"/>
          </a:xfrm>
          <a:prstGeom prst="line">
            <a:avLst/>
          </a:prstGeom>
          <a:noFill/>
          <a:ln w="31750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30" name="Pelajaran 3"/>
          <p:cNvSpPr/>
          <p:nvPr/>
        </p:nvSpPr>
        <p:spPr>
          <a:xfrm>
            <a:off x="4937760" y="3575304"/>
            <a:ext cx="3749040" cy="914400"/>
          </a:xfrm>
          <a:prstGeom prst="roundRect">
            <a:avLst>
              <a:gd name="adj" fmla="val 12000"/>
            </a:avLst>
          </a:prstGeom>
          <a:solidFill>
            <a:srgbClr val="E3F5F1"/>
          </a:solidFill>
          <a:ln w="12700">
            <a:solidFill>
              <a:srgbClr val="E3F5F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74920" y="3776472"/>
            <a:ext cx="512064" cy="512064"/>
          </a:xfrm>
          <a:prstGeom prst="ellipse">
            <a:avLst/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02936" y="3904488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715000" y="3621024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menjaga kualitas sebelum rilis</a:t>
            </a:r>
            <a:endParaRPr lang="en-US" sz="1300" dirty="0"/>
          </a:p>
        </p:txBody>
      </p:sp>
      <p:sp>
        <p:nvSpPr>
          <p:cNvPr id="34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boraya/01.Personal/02.Boraya/05.Code/JendEdu-template/img/slides/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3383280"/>
            <a:ext cx="9144000" cy="17602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383280"/>
            <a:ext cx="9144000" cy="1760220"/>
          </a:xfrm>
          <a:prstGeom prst="rect">
            <a:avLst/>
          </a:prstGeom>
          <a:solidFill>
            <a:srgbClr val="0F7F6A">
              <a:alpha val="65000"/>
            </a:srgbClr>
          </a:solidFill>
          <a:ln w="12700">
            <a:solidFill>
              <a:srgbClr val="0F7F6A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3749040" y="411480"/>
            <a:ext cx="1645920" cy="64008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1" descr="/home/boraya/01.Personal/02.Boraya/05.Code/JendEdu-template/img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521208"/>
            <a:ext cx="1371600" cy="38404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6000" dirty="0"/>
          </a:p>
        </p:txBody>
      </p:sp>
      <p:sp>
        <p:nvSpPr>
          <p:cNvPr id="7" name="Shape 3"/>
          <p:cNvSpPr/>
          <p:nvPr/>
        </p:nvSpPr>
        <p:spPr>
          <a:xfrm>
            <a:off x="3200400" y="22860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61B331"/>
          </a:solidFill>
          <a:ln w="12700">
            <a:solidFill>
              <a:srgbClr val="61B331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3200400" y="22860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Tanya Jawab (Q&amp;A)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2377440" y="3703320"/>
            <a:ext cx="438912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384048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108960" y="370332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github.com/Borayaa/JendEdu</a:t>
            </a:r>
            <a:endParaRPr lang="en-US" sz="1600" dirty="0"/>
          </a:p>
        </p:txBody>
      </p:sp>
      <p:sp>
        <p:nvSpPr>
          <p:cNvPr id="1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endEdu">
  <a:themeElements>
    <a:clrScheme name="JendEdu">
      <a:dk1>
        <a:srgbClr val="333333"/>
      </a:dk1>
      <a:lt1>
        <a:srgbClr val="FFFFFF"/>
      </a:lt1>
      <a:dk2>
        <a:srgbClr val="11967C"/>
      </a:dk2>
      <a:lt2>
        <a:srgbClr val="EFEFEF"/>
      </a:lt2>
      <a:accent1>
        <a:srgbClr val="14A085"/>
      </a:accent1>
      <a:accent2>
        <a:srgbClr val="61B331"/>
      </a:accent2>
      <a:accent3>
        <a:srgbClr val="E9573F"/>
      </a:accent3>
      <a:accent4>
        <a:srgbClr val="D867B2"/>
      </a:accent4>
      <a:accent5>
        <a:srgbClr val="2FA4E7"/>
      </a:accent5>
      <a:accent6>
        <a:srgbClr val="11967C"/>
      </a:accent6>
      <a:hlink>
        <a:srgbClr val="2FA4E7"/>
      </a:hlink>
      <a:folHlink>
        <a:srgbClr val="D867B2"/>
      </a:folHlink>
    </a:clrScheme>
    <a:fontScheme name="JendEdu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JendEdu - Presentasi</dc:title>
  <dc:subject>PptxGenJS Presentation</dc:subject>
  <dc:creator>Tim JendEdu</dc:creator>
  <cp:lastModifiedBy>Tim JendEdu</cp:lastModifiedBy>
  <cp:revision>1</cp:revision>
  <dcterms:created xsi:type="dcterms:W3CDTF">2026-10-20T21:16:50Z</dcterms:created>
  <dcterms:modified xsi:type="dcterms:W3CDTF">2026-10-20T21:16:50Z</dcterms:modified>
</cp:coreProperties>
</file>